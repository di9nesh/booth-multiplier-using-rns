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67" r:id="rId3"/>
    <p:sldId id="259" r:id="rId4"/>
    <p:sldId id="257" r:id="rId5"/>
    <p:sldId id="258" r:id="rId6"/>
    <p:sldId id="260" r:id="rId7"/>
    <p:sldId id="261" r:id="rId8"/>
    <p:sldId id="268" r:id="rId9"/>
    <p:sldId id="270" r:id="rId10"/>
    <p:sldId id="262" r:id="rId11"/>
    <p:sldId id="263" r:id="rId12"/>
    <p:sldId id="264" r:id="rId13"/>
    <p:sldId id="271" r:id="rId14"/>
    <p:sldId id="272" r:id="rId15"/>
    <p:sldId id="265" r:id="rId16"/>
    <p:sldId id="273" r:id="rId17"/>
    <p:sldId id="274" r:id="rId18"/>
    <p:sldId id="275" r:id="rId19"/>
    <p:sldId id="26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105" d="100"/>
          <a:sy n="105"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E3D5-2DA1-6874-80AF-84FB58DCB9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3EEA6F-E305-2171-F8F5-7CA01BA6A3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478785-C733-2432-347B-1A491D2CAED8}"/>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8B0FEB58-8592-7851-9640-E734C315F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F3B47-BCC9-F373-684E-B5003212AC21}"/>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241648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38CF-85B1-CC67-5D38-0A19F22AC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D75996-36EF-52E1-A981-1A58D1AE3E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998BB-49A7-4524-62DC-E460B3524230}"/>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856B0770-C3FB-0AAB-A531-9A5BE3FE3F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C320D7-79FD-640C-0BCB-8AE28009F454}"/>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3722902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9CE8D-6D7D-332C-997B-651C557008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44C7AE-F18B-D273-1FDA-CB4692CD3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678B76-45EF-5C58-A366-DE40E68B597C}"/>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9E4854F8-91AA-77E1-4720-8B81330833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403C8-AE9A-581F-6B9D-7D96DDA88B85}"/>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4286554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836B0-704F-E0D2-175E-C749F2A786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3BAC81-13E3-B470-1112-FCF364F07D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981BA-FE20-53A3-1DAF-4106DD98E4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3AA8F5-8063-47C2-A2C7-35244AA3D1A9}"/>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6" name="Footer Placeholder 5">
            <a:extLst>
              <a:ext uri="{FF2B5EF4-FFF2-40B4-BE49-F238E27FC236}">
                <a16:creationId xmlns:a16="http://schemas.microsoft.com/office/drawing/2014/main" id="{13E724D3-D9FC-09A3-0C3D-03FE57E951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3373E4-AE99-2039-2C99-136454A29DD9}"/>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678793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742F3-8F07-6181-0AAB-A0DC8DB4EF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AA2214-2A72-B842-46F0-80841159F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1C7A0B-55BC-101E-EC5C-AEAD3B5BF8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15C62E-04B7-A68F-D7DA-9F8BB9C0F8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5434C3-69E2-DE50-21DD-7BA3EFEEB7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AB7E4D-765B-563F-C3C7-D550F01FC5A1}"/>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8" name="Footer Placeholder 7">
            <a:extLst>
              <a:ext uri="{FF2B5EF4-FFF2-40B4-BE49-F238E27FC236}">
                <a16:creationId xmlns:a16="http://schemas.microsoft.com/office/drawing/2014/main" id="{7DA90972-EC7A-9BB7-A0AF-A8D8CB475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483EA6-6994-5587-59E6-FE352154C5C6}"/>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2778174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B9FCA-43E9-83C1-1CC4-D3BAEF870D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C6DC93-9F30-A529-FEFE-7F8FD5C880E5}"/>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4" name="Footer Placeholder 3">
            <a:extLst>
              <a:ext uri="{FF2B5EF4-FFF2-40B4-BE49-F238E27FC236}">
                <a16:creationId xmlns:a16="http://schemas.microsoft.com/office/drawing/2014/main" id="{C7B499C5-0EEA-1351-A37D-1AC9C9ADCF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229C57-6AB1-1B76-A552-D991B73BDBDF}"/>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2072899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6CDD42-9F86-EEEE-EA05-64DB2422F5D4}"/>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3" name="Footer Placeholder 2">
            <a:extLst>
              <a:ext uri="{FF2B5EF4-FFF2-40B4-BE49-F238E27FC236}">
                <a16:creationId xmlns:a16="http://schemas.microsoft.com/office/drawing/2014/main" id="{FCC7998C-0EE0-D8DE-BA4D-311A87CACC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F76776-50C4-D8FC-DF43-B289C5F0A079}"/>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2907006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AC97-6FB2-DBFE-EBCB-CC56E4CBD6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369335-6EB1-F2E2-9572-3B963225D5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067768-5B47-CEB5-B013-CDA9C2A5D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2461B0-8E3E-F1BA-7061-487922ED4309}"/>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6" name="Footer Placeholder 5">
            <a:extLst>
              <a:ext uri="{FF2B5EF4-FFF2-40B4-BE49-F238E27FC236}">
                <a16:creationId xmlns:a16="http://schemas.microsoft.com/office/drawing/2014/main" id="{1AF0387F-5771-1D44-2EA8-C08059BBA1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2F60D0-D694-0088-5255-DE2EEA19EEEF}"/>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3276182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FE2C2-1276-6BD2-5D6F-248AC73A0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72E8EE-1863-EC16-4E4F-43626A348C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693587-8E40-89D4-AD52-6A91B5A52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2191B-9DBE-3EB4-8E10-AEF5D08CF495}"/>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6" name="Footer Placeholder 5">
            <a:extLst>
              <a:ext uri="{FF2B5EF4-FFF2-40B4-BE49-F238E27FC236}">
                <a16:creationId xmlns:a16="http://schemas.microsoft.com/office/drawing/2014/main" id="{35920DA4-6F58-7AB1-5954-E9FA20CBE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9E9F0-C38E-5EF5-0AF7-763087F754DC}"/>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763222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EFE6A-1BF0-6E90-B82E-A70A79EBB3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08868E-C103-308C-A22E-C254538DDF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210F6-5A3F-EAB4-4F36-FE798CD567B5}"/>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4BCB4575-A556-13D7-EEEE-6CDA0073C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2A854-0BF8-F58D-A029-1623206F1C30}"/>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1575174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960C1B-53DA-7B83-6504-710BFEA7BA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5732E0-F535-EC77-F645-349E393E1E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54845C-EBE2-9A53-DC62-B2289705085C}"/>
              </a:ext>
            </a:extLst>
          </p:cNvPr>
          <p:cNvSpPr>
            <a:spLocks noGrp="1"/>
          </p:cNvSpPr>
          <p:nvPr>
            <p:ph type="dt" sz="half" idx="10"/>
          </p:nvPr>
        </p:nvSpPr>
        <p:spPr/>
        <p:txBody>
          <a:body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A1B849CE-8940-64F7-4F27-250405AE5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38816-F360-F323-1D1E-F706C075E3CF}"/>
              </a:ext>
            </a:extLst>
          </p:cNvPr>
          <p:cNvSpPr>
            <a:spLocks noGrp="1"/>
          </p:cNvSpPr>
          <p:nvPr>
            <p:ph type="sldNum" sz="quarter" idx="12"/>
          </p:nvPr>
        </p:nvSpPr>
        <p:spPr/>
        <p:txBody>
          <a:bodyPr/>
          <a:lstStyle/>
          <a:p>
            <a:fld id="{266C3D27-F3E6-4B9A-825A-9F5CE4508835}" type="slidenum">
              <a:rPr lang="en-US" smtClean="0"/>
              <a:t>‹#›</a:t>
            </a:fld>
            <a:endParaRPr lang="en-US"/>
          </a:p>
        </p:txBody>
      </p:sp>
    </p:spTree>
    <p:extLst>
      <p:ext uri="{BB962C8B-B14F-4D97-AF65-F5344CB8AC3E}">
        <p14:creationId xmlns:p14="http://schemas.microsoft.com/office/powerpoint/2010/main" val="2594093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70FAAD-F546-7466-5EE8-E5231848A3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D8445E-1850-2E50-BFA1-9D54A2264D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C9CC6A-1CB6-C29B-7811-68CB59F87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7E7FA3-2661-42D7-9C7F-22FED1D4B8DC}" type="datetimeFigureOut">
              <a:rPr lang="en-US" smtClean="0"/>
              <a:t>12/19/2024</a:t>
            </a:fld>
            <a:endParaRPr lang="en-US"/>
          </a:p>
        </p:txBody>
      </p:sp>
      <p:sp>
        <p:nvSpPr>
          <p:cNvPr id="5" name="Footer Placeholder 4">
            <a:extLst>
              <a:ext uri="{FF2B5EF4-FFF2-40B4-BE49-F238E27FC236}">
                <a16:creationId xmlns:a16="http://schemas.microsoft.com/office/drawing/2014/main" id="{4746731D-740A-D69F-28B8-EB78B27544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FA7381-F3A4-482B-977A-D04F695F5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6C3D27-F3E6-4B9A-825A-9F5CE4508835}" type="slidenum">
              <a:rPr lang="en-US" smtClean="0"/>
              <a:t>‹#›</a:t>
            </a:fld>
            <a:endParaRPr lang="en-US"/>
          </a:p>
        </p:txBody>
      </p:sp>
    </p:spTree>
    <p:extLst>
      <p:ext uri="{BB962C8B-B14F-4D97-AF65-F5344CB8AC3E}">
        <p14:creationId xmlns:p14="http://schemas.microsoft.com/office/powerpoint/2010/main" val="4212981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icpedia.org/post-it-note/o/objectives.html"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hyperlink" Target="https://www.hayate-lab.net/quartus-prime/" TargetMode="External"/><Relationship Id="rId7" Type="http://schemas.openxmlformats.org/officeDocument/2006/relationships/hyperlink" Target="https://www.fpgakey.com/wiki/details/25" TargetMode="Externa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hyperlink" Target="https://www.fpgakey.com/intel-parts/ep4ce115f29c7n" TargetMode="External"/><Relationship Id="rId4" Type="http://schemas.openxmlformats.org/officeDocument/2006/relationships/image" Target="../media/image9.jpg"/><Relationship Id="rId9" Type="http://schemas.openxmlformats.org/officeDocument/2006/relationships/hyperlink" Target="https://6sense.com/tech/technology-design-and-architecture/synopsys-design-compiler-market-shar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9" name="Rectangle 103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esign and Analysis of an FPGA-based Wallace Multiplier | by Giorgio  Ubbriaco | Medium">
            <a:extLst>
              <a:ext uri="{FF2B5EF4-FFF2-40B4-BE49-F238E27FC236}">
                <a16:creationId xmlns:a16="http://schemas.microsoft.com/office/drawing/2014/main" id="{20E69E25-33C7-8F58-9DE7-33979307B58E}"/>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l="1475" r="3858" b="-1"/>
          <a:stretch/>
        </p:blipFill>
        <p:spPr bwMode="auto">
          <a:xfrm>
            <a:off x="20" y="0"/>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EC83782-0E54-B6B1-DE24-64C595723D3E}"/>
              </a:ext>
            </a:extLst>
          </p:cNvPr>
          <p:cNvSpPr>
            <a:spLocks noGrp="1"/>
          </p:cNvSpPr>
          <p:nvPr>
            <p:ph type="ctrTitle"/>
          </p:nvPr>
        </p:nvSpPr>
        <p:spPr>
          <a:xfrm>
            <a:off x="1524000" y="447674"/>
            <a:ext cx="9144000" cy="2317905"/>
          </a:xfrm>
        </p:spPr>
        <p:txBody>
          <a:bodyPr>
            <a:normAutofit/>
          </a:bodyPr>
          <a:lstStyle/>
          <a:p>
            <a:r>
              <a:rPr lang="en-US" sz="5400" dirty="0">
                <a:solidFill>
                  <a:srgbClr val="FFFFFF"/>
                </a:solidFill>
                <a:latin typeface="Times New Roman" panose="02020603050405020304" pitchFamily="18" charset="0"/>
                <a:cs typeface="Times New Roman" panose="02020603050405020304" pitchFamily="18" charset="0"/>
              </a:rPr>
              <a:t>32-BIT RADIX-4 BOOTH MULTIPLIER USING RESIDUE NUMBER SYSTEM</a:t>
            </a:r>
          </a:p>
        </p:txBody>
      </p:sp>
      <p:sp>
        <p:nvSpPr>
          <p:cNvPr id="3" name="Subtitle 2">
            <a:extLst>
              <a:ext uri="{FF2B5EF4-FFF2-40B4-BE49-F238E27FC236}">
                <a16:creationId xmlns:a16="http://schemas.microsoft.com/office/drawing/2014/main" id="{9581CD38-CDD3-B377-7551-70631DF3D987}"/>
              </a:ext>
            </a:extLst>
          </p:cNvPr>
          <p:cNvSpPr>
            <a:spLocks noGrp="1"/>
          </p:cNvSpPr>
          <p:nvPr>
            <p:ph type="subTitle" idx="1"/>
          </p:nvPr>
        </p:nvSpPr>
        <p:spPr>
          <a:xfrm>
            <a:off x="1524000" y="2981326"/>
            <a:ext cx="9144000" cy="3657600"/>
          </a:xfrm>
        </p:spPr>
        <p:txBody>
          <a:bodyPr>
            <a:normAutofit/>
          </a:bodyPr>
          <a:lstStyle/>
          <a:p>
            <a:pPr fontAlgn="base">
              <a:spcBef>
                <a:spcPts val="1500"/>
              </a:spcBef>
              <a:spcAft>
                <a:spcPts val="750"/>
              </a:spcAft>
            </a:pPr>
            <a:r>
              <a:rPr lang="en-US" dirty="0">
                <a:solidFill>
                  <a:srgbClr val="FFFFFF"/>
                </a:solidFill>
                <a:latin typeface="Times New Roman" panose="02020603050405020304" pitchFamily="18" charset="0"/>
                <a:cs typeface="Times New Roman" panose="02020603050405020304" pitchFamily="18" charset="0"/>
              </a:rPr>
              <a:t>ECE 244 - Advanced Hardware Design of Computer Arithmetic</a:t>
            </a:r>
          </a:p>
          <a:p>
            <a:pPr fontAlgn="base">
              <a:spcBef>
                <a:spcPts val="1500"/>
              </a:spcBef>
              <a:spcAft>
                <a:spcPts val="750"/>
              </a:spcAft>
            </a:pPr>
            <a:r>
              <a:rPr lang="en-US" dirty="0">
                <a:solidFill>
                  <a:srgbClr val="FFFFFF"/>
                </a:solidFill>
                <a:latin typeface="Times New Roman" panose="02020603050405020304" pitchFamily="18" charset="0"/>
                <a:cs typeface="Times New Roman" panose="02020603050405020304" pitchFamily="18" charset="0"/>
              </a:rPr>
              <a:t>Advisor: Dr. </a:t>
            </a:r>
            <a:r>
              <a:rPr lang="en-US" dirty="0" err="1">
                <a:solidFill>
                  <a:srgbClr val="FFFFFF"/>
                </a:solidFill>
                <a:latin typeface="Times New Roman" panose="02020603050405020304" pitchFamily="18" charset="0"/>
                <a:cs typeface="Times New Roman" panose="02020603050405020304" pitchFamily="18" charset="0"/>
              </a:rPr>
              <a:t>Hayssam</a:t>
            </a:r>
            <a:r>
              <a:rPr lang="en-US" dirty="0">
                <a:solidFill>
                  <a:srgbClr val="FFFFFF"/>
                </a:solidFill>
                <a:latin typeface="Times New Roman" panose="02020603050405020304" pitchFamily="18" charset="0"/>
                <a:cs typeface="Times New Roman" panose="02020603050405020304" pitchFamily="18" charset="0"/>
              </a:rPr>
              <a:t> El-</a:t>
            </a:r>
            <a:r>
              <a:rPr lang="en-US" dirty="0" err="1">
                <a:solidFill>
                  <a:srgbClr val="FFFFFF"/>
                </a:solidFill>
                <a:latin typeface="Times New Roman" panose="02020603050405020304" pitchFamily="18" charset="0"/>
                <a:cs typeface="Times New Roman" panose="02020603050405020304" pitchFamily="18" charset="0"/>
              </a:rPr>
              <a:t>Razouk</a:t>
            </a:r>
            <a:endParaRPr lang="en-US" dirty="0">
              <a:solidFill>
                <a:srgbClr val="FFFFFF"/>
              </a:solidFill>
              <a:latin typeface="Times New Roman" panose="02020603050405020304" pitchFamily="18" charset="0"/>
              <a:cs typeface="Times New Roman" panose="02020603050405020304" pitchFamily="18" charset="0"/>
            </a:endParaRPr>
          </a:p>
          <a:p>
            <a:pPr fontAlgn="base">
              <a:spcBef>
                <a:spcPts val="1500"/>
              </a:spcBef>
              <a:spcAft>
                <a:spcPts val="750"/>
              </a:spcAft>
            </a:pPr>
            <a:r>
              <a:rPr lang="en-US" dirty="0">
                <a:solidFill>
                  <a:srgbClr val="FFFFFF"/>
                </a:solidFill>
                <a:latin typeface="Times New Roman" panose="02020603050405020304" pitchFamily="18" charset="0"/>
                <a:cs typeface="Times New Roman" panose="02020603050405020304" pitchFamily="18" charset="0"/>
              </a:rPr>
              <a:t>Submitted by: </a:t>
            </a:r>
          </a:p>
          <a:p>
            <a:pPr fontAlgn="base">
              <a:spcBef>
                <a:spcPts val="1500"/>
              </a:spcBef>
              <a:spcAft>
                <a:spcPts val="750"/>
              </a:spcAft>
            </a:pPr>
            <a:r>
              <a:rPr lang="en-US" dirty="0">
                <a:solidFill>
                  <a:srgbClr val="FFFFFF"/>
                </a:solidFill>
                <a:latin typeface="Times New Roman" panose="02020603050405020304" pitchFamily="18" charset="0"/>
                <a:cs typeface="Times New Roman" panose="02020603050405020304" pitchFamily="18" charset="0"/>
              </a:rPr>
              <a:t>Manasa </a:t>
            </a:r>
            <a:r>
              <a:rPr lang="en-US" dirty="0" err="1">
                <a:solidFill>
                  <a:srgbClr val="FFFFFF"/>
                </a:solidFill>
                <a:latin typeface="Times New Roman" panose="02020603050405020304" pitchFamily="18" charset="0"/>
                <a:cs typeface="Times New Roman" panose="02020603050405020304" pitchFamily="18" charset="0"/>
              </a:rPr>
              <a:t>Kunapareddy</a:t>
            </a:r>
            <a:r>
              <a:rPr lang="en-US" dirty="0">
                <a:solidFill>
                  <a:srgbClr val="FFFFFF"/>
                </a:solidFill>
                <a:latin typeface="Times New Roman" panose="02020603050405020304" pitchFamily="18" charset="0"/>
                <a:cs typeface="Times New Roman" panose="02020603050405020304" pitchFamily="18" charset="0"/>
              </a:rPr>
              <a:t>, Pavan Kalyan </a:t>
            </a:r>
            <a:r>
              <a:rPr lang="en-US" dirty="0" err="1">
                <a:solidFill>
                  <a:srgbClr val="FFFFFF"/>
                </a:solidFill>
                <a:latin typeface="Times New Roman" panose="02020603050405020304" pitchFamily="18" charset="0"/>
                <a:cs typeface="Times New Roman" panose="02020603050405020304" pitchFamily="18" charset="0"/>
              </a:rPr>
              <a:t>Lakkisetty</a:t>
            </a:r>
            <a:r>
              <a:rPr lang="en-US" dirty="0">
                <a:solidFill>
                  <a:srgbClr val="FFFFFF"/>
                </a:solidFill>
                <a:latin typeface="Times New Roman" panose="02020603050405020304" pitchFamily="18" charset="0"/>
                <a:cs typeface="Times New Roman" panose="02020603050405020304" pitchFamily="18" charset="0"/>
              </a:rPr>
              <a:t>, Dinesh Reddy Munnangi</a:t>
            </a:r>
          </a:p>
        </p:txBody>
      </p:sp>
    </p:spTree>
    <p:extLst>
      <p:ext uri="{BB962C8B-B14F-4D97-AF65-F5344CB8AC3E}">
        <p14:creationId xmlns:p14="http://schemas.microsoft.com/office/powerpoint/2010/main" val="7738917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F8C86-CEA2-4B88-10A5-667F2C96D0AC}"/>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A41B7083-428E-1852-43D9-99450FA2ACA6}"/>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This project designs a Radix-4 Booth Multiplier using the Residue Number System (RNS) to make multiplication faster and more efficient. The Radix-4 Booth algorithm reduces the number of steps by handling two bits at a time, while RNS splits the multiplication into smaller, independent parts using modular arithmetic, avoiding delays from carry operations. Implemented in Verilog, the design showed high speed, low power use, and less hardware, making it ideal for digital signal processing, cryptography, and high-performance computing.</a:t>
            </a:r>
          </a:p>
        </p:txBody>
      </p:sp>
    </p:spTree>
    <p:extLst>
      <p:ext uri="{BB962C8B-B14F-4D97-AF65-F5344CB8AC3E}">
        <p14:creationId xmlns:p14="http://schemas.microsoft.com/office/powerpoint/2010/main" val="1780906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notepad with a pen and glasses on a desk&#10;&#10;Description automatically generated">
            <a:extLst>
              <a:ext uri="{FF2B5EF4-FFF2-40B4-BE49-F238E27FC236}">
                <a16:creationId xmlns:a16="http://schemas.microsoft.com/office/drawing/2014/main" id="{2D937AC3-56BE-2487-C8FA-D40C0669EC7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884" r="-1" b="-1"/>
          <a:stretch/>
        </p:blipFill>
        <p:spPr>
          <a:xfrm>
            <a:off x="2522356" y="10"/>
            <a:ext cx="9669642" cy="6857990"/>
          </a:xfrm>
          <a:prstGeom prst="rect">
            <a:avLst/>
          </a:prstGeom>
        </p:spPr>
      </p:pic>
      <p:sp>
        <p:nvSpPr>
          <p:cNvPr id="25" name="Rectangle 2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E45865B-7591-48B2-7902-A08C769E2B40}"/>
              </a:ext>
            </a:extLst>
          </p:cNvPr>
          <p:cNvSpPr>
            <a:spLocks noGrp="1"/>
          </p:cNvSpPr>
          <p:nvPr>
            <p:ph idx="1"/>
          </p:nvPr>
        </p:nvSpPr>
        <p:spPr>
          <a:xfrm>
            <a:off x="96611" y="1175657"/>
            <a:ext cx="5344885" cy="5053693"/>
          </a:xfrm>
        </p:spPr>
        <p:txBody>
          <a:bodyPr>
            <a:normAutofit/>
          </a:bodyPr>
          <a:lstStyle/>
          <a:p>
            <a:pPr algn="just"/>
            <a:r>
              <a:rPr lang="en-US" sz="2400" dirty="0">
                <a:latin typeface="Times New Roman" panose="02020603050405020304" pitchFamily="18" charset="0"/>
                <a:cs typeface="Times New Roman" panose="02020603050405020304" pitchFamily="18" charset="0"/>
              </a:rPr>
              <a:t>To design and implement a Booth Multiplier using the Radix-4 technique to improve the efficiency of multiplication operations. </a:t>
            </a:r>
          </a:p>
          <a:p>
            <a:pPr algn="just"/>
            <a:r>
              <a:rPr lang="en-US" sz="2400" dirty="0">
                <a:latin typeface="Times New Roman" panose="02020603050405020304" pitchFamily="18" charset="0"/>
                <a:cs typeface="Times New Roman" panose="02020603050405020304" pitchFamily="18" charset="0"/>
              </a:rPr>
              <a:t>To utilize the Residue Number System (RNS) to enhance the performance of the   multiplier by enabling faster and serial computations. </a:t>
            </a:r>
          </a:p>
          <a:p>
            <a:pPr algn="just"/>
            <a:r>
              <a:rPr lang="en-US" sz="2400" dirty="0">
                <a:latin typeface="Times New Roman" panose="02020603050405020304" pitchFamily="18" charset="0"/>
                <a:cs typeface="Times New Roman" panose="02020603050405020304" pitchFamily="18" charset="0"/>
              </a:rPr>
              <a:t>To compare the area and power consumption of the proposed Radix-4 Booth multiplier with a conventional Booth Multiplier to evaluate its efficiency. </a:t>
            </a:r>
          </a:p>
        </p:txBody>
      </p:sp>
      <p:sp>
        <p:nvSpPr>
          <p:cNvPr id="11" name="TextBox 10">
            <a:extLst>
              <a:ext uri="{FF2B5EF4-FFF2-40B4-BE49-F238E27FC236}">
                <a16:creationId xmlns:a16="http://schemas.microsoft.com/office/drawing/2014/main" id="{08BE1C53-F92C-4C21-8E1C-59B95DB788F5}"/>
              </a:ext>
            </a:extLst>
          </p:cNvPr>
          <p:cNvSpPr txBox="1"/>
          <p:nvPr/>
        </p:nvSpPr>
        <p:spPr>
          <a:xfrm>
            <a:off x="9759922" y="6657945"/>
            <a:ext cx="243207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www.picpedia.org/post-it-note/o/objectives.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4246307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5232-E9A9-2D8E-FBC2-662954F0EFFB}"/>
              </a:ext>
            </a:extLst>
          </p:cNvPr>
          <p:cNvSpPr>
            <a:spLocks noGrp="1"/>
          </p:cNvSpPr>
          <p:nvPr>
            <p:ph type="title"/>
          </p:nvPr>
        </p:nvSpPr>
        <p:spPr/>
        <p:txBody>
          <a:bodyPr/>
          <a:lstStyle/>
          <a:p>
            <a:r>
              <a:rPr lang="en-US" dirty="0"/>
              <a:t>INTRODUCTION</a:t>
            </a:r>
          </a:p>
        </p:txBody>
      </p:sp>
      <p:sp>
        <p:nvSpPr>
          <p:cNvPr id="8" name="Content Placeholder 7">
            <a:extLst>
              <a:ext uri="{FF2B5EF4-FFF2-40B4-BE49-F238E27FC236}">
                <a16:creationId xmlns:a16="http://schemas.microsoft.com/office/drawing/2014/main" id="{1F940AAE-6486-AE25-74B2-CE4157DBB24F}"/>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Multiplication is essential in applications like Digital Signal Processing (DSP), cryptography, and artificial intelligence, where speed, power efficiency, and hardware area are critical.</a:t>
            </a:r>
          </a:p>
          <a:p>
            <a:pPr algn="just"/>
            <a:r>
              <a:rPr lang="en-US" sz="2400" dirty="0">
                <a:latin typeface="Times New Roman" panose="02020603050405020304" pitchFamily="18" charset="0"/>
                <a:cs typeface="Times New Roman" panose="02020603050405020304" pitchFamily="18" charset="0"/>
              </a:rPr>
              <a:t>This project implements a 32-bit Radix-4 Booth multiplier combined with the Residue Number System (RNS) using serial processing, reducing operations and eliminating carry propagation for better efficiency.</a:t>
            </a:r>
          </a:p>
          <a:p>
            <a:endParaRPr lang="en-US" dirty="0"/>
          </a:p>
        </p:txBody>
      </p:sp>
    </p:spTree>
    <p:extLst>
      <p:ext uri="{BB962C8B-B14F-4D97-AF65-F5344CB8AC3E}">
        <p14:creationId xmlns:p14="http://schemas.microsoft.com/office/powerpoint/2010/main" val="3059920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5595-41CB-C398-04B6-A495177EA3F6}"/>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3A55C932-4F8F-0E40-D038-E9B6BBC6A734}"/>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motivation for this project comes from the need for quicker and more efficient multiplication in digital systems, which is essential for applications like DSP, cryptography, and AI. Traditional methods face challenges like carry propagation and high resource use, especially for large numbers.</a:t>
            </a:r>
          </a:p>
          <a:p>
            <a:pPr algn="just"/>
            <a:r>
              <a:rPr lang="en-US" sz="2400" dirty="0">
                <a:latin typeface="Times New Roman" panose="02020603050405020304" pitchFamily="18" charset="0"/>
                <a:cs typeface="Times New Roman" panose="02020603050405020304" pitchFamily="18" charset="0"/>
              </a:rPr>
              <a:t>By combining the Radix-4 Booth algorithm with the Residue Number System (RNS), this project aims to overcome these issues, offering a solution that is faster, uses less power, and requires simpler hardware.</a:t>
            </a:r>
          </a:p>
        </p:txBody>
      </p:sp>
    </p:spTree>
    <p:extLst>
      <p:ext uri="{BB962C8B-B14F-4D97-AF65-F5344CB8AC3E}">
        <p14:creationId xmlns:p14="http://schemas.microsoft.com/office/powerpoint/2010/main" val="1095736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open book against blurred bookshelf background">
            <a:extLst>
              <a:ext uri="{FF2B5EF4-FFF2-40B4-BE49-F238E27FC236}">
                <a16:creationId xmlns:a16="http://schemas.microsoft.com/office/drawing/2014/main" id="{ADBBE2AE-2DDA-FA56-296C-691C70F7910F}"/>
              </a:ext>
            </a:extLst>
          </p:cNvPr>
          <p:cNvPicPr>
            <a:picLocks noChangeAspect="1"/>
          </p:cNvPicPr>
          <p:nvPr/>
        </p:nvPicPr>
        <p:blipFill>
          <a:blip r:embed="rId2"/>
          <a:srcRect l="5884" r="-1" b="-1"/>
          <a:stretch/>
        </p:blipFill>
        <p:spPr>
          <a:xfrm>
            <a:off x="4158344" y="10"/>
            <a:ext cx="8033654" cy="2265027"/>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680818-3097-4891-9431-F25FE55CE693}"/>
              </a:ext>
            </a:extLst>
          </p:cNvPr>
          <p:cNvSpPr>
            <a:spLocks noGrp="1"/>
          </p:cNvSpPr>
          <p:nvPr>
            <p:ph type="title"/>
          </p:nvPr>
        </p:nvSpPr>
        <p:spPr>
          <a:xfrm>
            <a:off x="838199" y="365125"/>
            <a:ext cx="6226629" cy="1899912"/>
          </a:xfrm>
        </p:spPr>
        <p:txBody>
          <a:bodyPr>
            <a:normAutofit/>
          </a:bodyPr>
          <a:lstStyle/>
          <a:p>
            <a:r>
              <a:rPr lang="en-US" sz="4000" dirty="0"/>
              <a:t>LITERATURE REVIEW</a:t>
            </a:r>
          </a:p>
        </p:txBody>
      </p:sp>
      <p:sp>
        <p:nvSpPr>
          <p:cNvPr id="3" name="Content Placeholder 2">
            <a:extLst>
              <a:ext uri="{FF2B5EF4-FFF2-40B4-BE49-F238E27FC236}">
                <a16:creationId xmlns:a16="http://schemas.microsoft.com/office/drawing/2014/main" id="{8E3D3892-420E-6166-49AF-9A8FD6907545}"/>
              </a:ext>
            </a:extLst>
          </p:cNvPr>
          <p:cNvSpPr>
            <a:spLocks noGrp="1"/>
          </p:cNvSpPr>
          <p:nvPr>
            <p:ph idx="1"/>
          </p:nvPr>
        </p:nvSpPr>
        <p:spPr>
          <a:xfrm>
            <a:off x="838200" y="2434201"/>
            <a:ext cx="11081657" cy="4216970"/>
          </a:xfrm>
        </p:spPr>
        <p:txBody>
          <a:bodyPr>
            <a:normAutofit/>
          </a:bodyPr>
          <a:lstStyle/>
          <a:p>
            <a:pPr algn="just"/>
            <a:r>
              <a:rPr lang="en-US" sz="2400" dirty="0">
                <a:latin typeface="Times New Roman" panose="02020603050405020304" pitchFamily="18" charset="0"/>
                <a:cs typeface="Times New Roman" panose="02020603050405020304" pitchFamily="18" charset="0"/>
              </a:rPr>
              <a:t>The Radix-4 Booth algorithm reduces partial products for faster multiplication but increases power use due to extra encoders and decoders.</a:t>
            </a:r>
          </a:p>
          <a:p>
            <a:pPr algn="just"/>
            <a:r>
              <a:rPr lang="en-US" sz="2400" dirty="0">
                <a:latin typeface="Times New Roman" panose="02020603050405020304" pitchFamily="18" charset="0"/>
                <a:cs typeface="Times New Roman" panose="02020603050405020304" pitchFamily="18" charset="0"/>
              </a:rPr>
              <a:t>Pre-encoded Radix-4 Booth multipliers enhance power efficiency by optimizing the encoding process.</a:t>
            </a:r>
          </a:p>
          <a:p>
            <a:pPr algn="just"/>
            <a:r>
              <a:rPr lang="en-US" sz="2400" dirty="0">
                <a:latin typeface="Times New Roman" panose="02020603050405020304" pitchFamily="18" charset="0"/>
                <a:cs typeface="Times New Roman" panose="02020603050405020304" pitchFamily="18" charset="0"/>
              </a:rPr>
              <a:t>Approximate Radix-4 Booth designs exchange minor inaccuracies for better speed and lower power, ideal for energy-limited systems.</a:t>
            </a:r>
          </a:p>
          <a:p>
            <a:pPr algn="just"/>
            <a:r>
              <a:rPr lang="en-US" sz="2400" dirty="0">
                <a:latin typeface="Times New Roman" panose="02020603050405020304" pitchFamily="18" charset="0"/>
                <a:cs typeface="Times New Roman" panose="02020603050405020304" pitchFamily="18" charset="0"/>
              </a:rPr>
              <a:t>Bit-separable Radix-4 designs reduce operations and power use, making them suitable for edge devices running neural networks like CNNs</a:t>
            </a:r>
            <a:r>
              <a:rPr lang="en-US" sz="2400" dirty="0"/>
              <a:t>.</a:t>
            </a:r>
          </a:p>
        </p:txBody>
      </p:sp>
    </p:spTree>
    <p:extLst>
      <p:ext uri="{BB962C8B-B14F-4D97-AF65-F5344CB8AC3E}">
        <p14:creationId xmlns:p14="http://schemas.microsoft.com/office/powerpoint/2010/main" val="3245149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A526C-75E9-108C-5237-16306D89ACE9}"/>
              </a:ext>
            </a:extLst>
          </p:cNvPr>
          <p:cNvSpPr>
            <a:spLocks noGrp="1"/>
          </p:cNvSpPr>
          <p:nvPr>
            <p:ph type="title"/>
          </p:nvPr>
        </p:nvSpPr>
        <p:spPr/>
        <p:txBody>
          <a:bodyPr/>
          <a:lstStyle/>
          <a:p>
            <a:r>
              <a:rPr lang="en-US" dirty="0"/>
              <a:t>THEORETICAL BACKGROUND</a:t>
            </a:r>
          </a:p>
        </p:txBody>
      </p:sp>
      <p:pic>
        <p:nvPicPr>
          <p:cNvPr id="4" name="Content Placeholder 3">
            <a:extLst>
              <a:ext uri="{FF2B5EF4-FFF2-40B4-BE49-F238E27FC236}">
                <a16:creationId xmlns:a16="http://schemas.microsoft.com/office/drawing/2014/main" id="{1F86B559-73E5-09EB-F6CB-C75A9874ECD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690688"/>
            <a:ext cx="3722914" cy="4557712"/>
          </a:xfrm>
          <a:prstGeom prst="rect">
            <a:avLst/>
          </a:prstGeom>
        </p:spPr>
      </p:pic>
      <p:sp>
        <p:nvSpPr>
          <p:cNvPr id="5" name="TextBox 4">
            <a:extLst>
              <a:ext uri="{FF2B5EF4-FFF2-40B4-BE49-F238E27FC236}">
                <a16:creationId xmlns:a16="http://schemas.microsoft.com/office/drawing/2014/main" id="{4B1D1DD4-69A8-F3DD-760B-30887FC8885A}"/>
              </a:ext>
            </a:extLst>
          </p:cNvPr>
          <p:cNvSpPr txBox="1"/>
          <p:nvPr/>
        </p:nvSpPr>
        <p:spPr>
          <a:xfrm>
            <a:off x="4332514" y="2144486"/>
            <a:ext cx="7696200" cy="6001643"/>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Traditional Booth multiplier</a:t>
            </a:r>
          </a:p>
          <a:p>
            <a:pPr algn="ct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traditional Booth multiplier works based on decreasing the number of operations (+,-), this makes the multiplication more precise.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scans the multiplier bits two at a time (including an extra bit, Q₋₁) and decides whether to add, subtract, or shift based on the bit patterns (00, 01, 10, 11).</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process continues until all bits are processed, simplifying signed multiplication and reducing the overall computation time.</a:t>
            </a:r>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410651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6C848-8591-CF26-B5FC-C4C1513F01BC}"/>
              </a:ext>
            </a:extLst>
          </p:cNvPr>
          <p:cNvSpPr>
            <a:spLocks noGrp="1"/>
          </p:cNvSpPr>
          <p:nvPr>
            <p:ph type="title"/>
          </p:nvPr>
        </p:nvSpPr>
        <p:spPr/>
        <p:txBody>
          <a:bodyPr/>
          <a:lstStyle/>
          <a:p>
            <a:r>
              <a:rPr lang="en-US" dirty="0"/>
              <a:t>RADIX-4 BOOTH MULTIPLIER</a:t>
            </a:r>
          </a:p>
        </p:txBody>
      </p:sp>
      <p:pic>
        <p:nvPicPr>
          <p:cNvPr id="5" name="Content Placeholder 4">
            <a:extLst>
              <a:ext uri="{FF2B5EF4-FFF2-40B4-BE49-F238E27FC236}">
                <a16:creationId xmlns:a16="http://schemas.microsoft.com/office/drawing/2014/main" id="{FB8F7763-E136-BAA0-B528-3FF83443D568}"/>
              </a:ext>
            </a:extLst>
          </p:cNvPr>
          <p:cNvPicPr>
            <a:picLocks noGrp="1" noChangeAspect="1"/>
          </p:cNvPicPr>
          <p:nvPr>
            <p:ph idx="1"/>
          </p:nvPr>
        </p:nvPicPr>
        <p:blipFill>
          <a:blip r:embed="rId2"/>
          <a:stretch>
            <a:fillRect/>
          </a:stretch>
        </p:blipFill>
        <p:spPr>
          <a:xfrm>
            <a:off x="468085" y="1905000"/>
            <a:ext cx="6335485" cy="3810000"/>
          </a:xfrm>
        </p:spPr>
      </p:pic>
      <p:sp>
        <p:nvSpPr>
          <p:cNvPr id="8" name="TextBox 7">
            <a:extLst>
              <a:ext uri="{FF2B5EF4-FFF2-40B4-BE49-F238E27FC236}">
                <a16:creationId xmlns:a16="http://schemas.microsoft.com/office/drawing/2014/main" id="{53DEA4ED-C2BF-0A7D-08AF-4E93B5DDAAD0}"/>
              </a:ext>
            </a:extLst>
          </p:cNvPr>
          <p:cNvSpPr txBox="1"/>
          <p:nvPr/>
        </p:nvSpPr>
        <p:spPr>
          <a:xfrm>
            <a:off x="6879771" y="1992086"/>
            <a:ext cx="5127172" cy="5078313"/>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reduces partial products by encoding patterns into operations such as +A, −A, +2A, or −2A, based on combinations of 0s and 1s.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method minimizes the number of operations, speeding up multiplication, especially for large numbers, compared to standard Booth encoding.</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81672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9342-AC44-3A2E-5F11-A54B323FA439}"/>
              </a:ext>
            </a:extLst>
          </p:cNvPr>
          <p:cNvSpPr>
            <a:spLocks noGrp="1"/>
          </p:cNvSpPr>
          <p:nvPr>
            <p:ph type="title"/>
          </p:nvPr>
        </p:nvSpPr>
        <p:spPr/>
        <p:txBody>
          <a:bodyPr/>
          <a:lstStyle/>
          <a:p>
            <a:r>
              <a:rPr lang="en-US" dirty="0"/>
              <a:t>RESIDUE NUMBER SYSTEM(RNS)</a:t>
            </a:r>
          </a:p>
        </p:txBody>
      </p:sp>
      <p:pic>
        <p:nvPicPr>
          <p:cNvPr id="7176" name="Picture 8" descr="Residue Number Systems in Cryptography: Design, Challenges, Robustness |  SpringerLink">
            <a:extLst>
              <a:ext uri="{FF2B5EF4-FFF2-40B4-BE49-F238E27FC236}">
                <a16:creationId xmlns:a16="http://schemas.microsoft.com/office/drawing/2014/main" id="{2129D343-2DF0-B7BF-C210-F08AEF467E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6943" y="2124075"/>
            <a:ext cx="5519057" cy="32643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8BDE153-3572-1EA7-7032-E45F832A16B6}"/>
              </a:ext>
            </a:extLst>
          </p:cNvPr>
          <p:cNvSpPr txBox="1"/>
          <p:nvPr/>
        </p:nvSpPr>
        <p:spPr>
          <a:xfrm>
            <a:off x="6096000" y="2124075"/>
            <a:ext cx="5834743" cy="6863417"/>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image shows the Residue Number System (RNS) process, where large numbers X and Y are divided into smaller parts using different moduli m1,m2,...,mL​.</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smaller part is processed independently (addition, subtraction, or multiplication), avoiding carry propagation and speeding up computations.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r1,r2,...,rL​ are combined using methods like the </a:t>
            </a:r>
            <a:r>
              <a:rPr lang="en-US" sz="2000" b="1" dirty="0">
                <a:latin typeface="Times New Roman" panose="02020603050405020304" pitchFamily="18" charset="0"/>
                <a:cs typeface="Times New Roman" panose="02020603050405020304" pitchFamily="18" charset="0"/>
              </a:rPr>
              <a:t>Chinese Remainder Theorem (CRT) </a:t>
            </a:r>
            <a:r>
              <a:rPr lang="en-US" sz="2000" dirty="0">
                <a:latin typeface="Times New Roman" panose="02020603050405020304" pitchFamily="18" charset="0"/>
                <a:cs typeface="Times New Roman" panose="02020603050405020304" pitchFamily="18" charset="0"/>
              </a:rPr>
              <a:t>or the Mixed Radix Conversion (MRC) to get the result 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84318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32312-B0CC-A37C-C0E3-736D1A169E87}"/>
              </a:ext>
            </a:extLst>
          </p:cNvPr>
          <p:cNvSpPr>
            <a:spLocks noGrp="1"/>
          </p:cNvSpPr>
          <p:nvPr>
            <p:ph type="title"/>
          </p:nvPr>
        </p:nvSpPr>
        <p:spPr/>
        <p:txBody>
          <a:bodyPr/>
          <a:lstStyle/>
          <a:p>
            <a:r>
              <a:rPr lang="en-US" dirty="0"/>
              <a:t>PROPOSED MODEL</a:t>
            </a:r>
          </a:p>
        </p:txBody>
      </p:sp>
      <p:pic>
        <p:nvPicPr>
          <p:cNvPr id="4" name="Content Placeholder 3" descr="A diagram of a flowchart&#10;&#10;Description automatically generated">
            <a:extLst>
              <a:ext uri="{FF2B5EF4-FFF2-40B4-BE49-F238E27FC236}">
                <a16:creationId xmlns:a16="http://schemas.microsoft.com/office/drawing/2014/main" id="{5765DE96-ADCA-01B5-A3F3-6B884329B6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0728" y="1690688"/>
            <a:ext cx="6913744" cy="4351338"/>
          </a:xfrm>
          <a:prstGeom prst="rect">
            <a:avLst/>
          </a:prstGeom>
        </p:spPr>
      </p:pic>
      <p:sp>
        <p:nvSpPr>
          <p:cNvPr id="5" name="TextBox 4">
            <a:extLst>
              <a:ext uri="{FF2B5EF4-FFF2-40B4-BE49-F238E27FC236}">
                <a16:creationId xmlns:a16="http://schemas.microsoft.com/office/drawing/2014/main" id="{D98E6BEF-0578-32F1-6B40-E748E896BC97}"/>
              </a:ext>
            </a:extLst>
          </p:cNvPr>
          <p:cNvSpPr txBox="1"/>
          <p:nvPr/>
        </p:nvSpPr>
        <p:spPr>
          <a:xfrm>
            <a:off x="6705600" y="1229896"/>
            <a:ext cx="5285672" cy="4955203"/>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Residue Number System (RNS) </a:t>
            </a:r>
            <a:r>
              <a:rPr lang="en-US" sz="2000" dirty="0">
                <a:latin typeface="Times New Roman" panose="02020603050405020304" pitchFamily="18" charset="0"/>
                <a:cs typeface="Times New Roman" panose="02020603050405020304" pitchFamily="18" charset="0"/>
              </a:rPr>
              <a:t>breaks large numbers into smaller parts, allowing serial calculations without carry propagation.</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combined with the Radix-4 Booth algorithm, inputs are converted to RNS form, and multiplication happens independently in smaller channels.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are combined using methods like the </a:t>
            </a:r>
            <a:r>
              <a:rPr lang="en-US" sz="2000" b="1" dirty="0">
                <a:latin typeface="Times New Roman" panose="02020603050405020304" pitchFamily="18" charset="0"/>
                <a:cs typeface="Times New Roman" panose="02020603050405020304" pitchFamily="18" charset="0"/>
              </a:rPr>
              <a:t>Chinese Remainder Theorem (CRT), </a:t>
            </a:r>
            <a:r>
              <a:rPr lang="en-US" sz="2000" dirty="0">
                <a:latin typeface="Times New Roman" panose="02020603050405020304" pitchFamily="18" charset="0"/>
                <a:cs typeface="Times New Roman" panose="02020603050405020304" pitchFamily="18" charset="0"/>
              </a:rPr>
              <a:t>improving speed, reducing power use, and enabling scalability for larger operations like 64-bit multiplications.</a:t>
            </a:r>
          </a:p>
          <a:p>
            <a:endParaRPr lang="en-US" dirty="0"/>
          </a:p>
          <a:p>
            <a:endParaRPr lang="en-US" dirty="0"/>
          </a:p>
        </p:txBody>
      </p:sp>
    </p:spTree>
    <p:extLst>
      <p:ext uri="{BB962C8B-B14F-4D97-AF65-F5344CB8AC3E}">
        <p14:creationId xmlns:p14="http://schemas.microsoft.com/office/powerpoint/2010/main" val="553214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2" name="Rectangle 201">
            <a:extLst>
              <a:ext uri="{FF2B5EF4-FFF2-40B4-BE49-F238E27FC236}">
                <a16:creationId xmlns:a16="http://schemas.microsoft.com/office/drawing/2014/main" id="{99E115D7-68EB-4590-9BD1-A56D94144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82BC2-E0D7-58F3-26EF-1914F9140A02}"/>
              </a:ext>
            </a:extLst>
          </p:cNvPr>
          <p:cNvSpPr>
            <a:spLocks noGrp="1"/>
          </p:cNvSpPr>
          <p:nvPr>
            <p:ph type="title"/>
          </p:nvPr>
        </p:nvSpPr>
        <p:spPr>
          <a:xfrm>
            <a:off x="841248" y="556996"/>
            <a:ext cx="5344742" cy="999661"/>
          </a:xfrm>
        </p:spPr>
        <p:txBody>
          <a:bodyPr anchor="b">
            <a:normAutofit/>
          </a:bodyPr>
          <a:lstStyle/>
          <a:p>
            <a:r>
              <a:rPr lang="en-US" sz="4000" dirty="0"/>
              <a:t>SOFTWARE USED</a:t>
            </a:r>
          </a:p>
        </p:txBody>
      </p:sp>
      <p:sp>
        <p:nvSpPr>
          <p:cNvPr id="3" name="Content Placeholder 2">
            <a:extLst>
              <a:ext uri="{FF2B5EF4-FFF2-40B4-BE49-F238E27FC236}">
                <a16:creationId xmlns:a16="http://schemas.microsoft.com/office/drawing/2014/main" id="{4482F631-8011-4D0F-7B86-8163EDE7A2FD}"/>
              </a:ext>
            </a:extLst>
          </p:cNvPr>
          <p:cNvSpPr>
            <a:spLocks noGrp="1"/>
          </p:cNvSpPr>
          <p:nvPr>
            <p:ph idx="1"/>
          </p:nvPr>
        </p:nvSpPr>
        <p:spPr>
          <a:xfrm>
            <a:off x="715749" y="1877160"/>
            <a:ext cx="5595740" cy="4029864"/>
          </a:xfrm>
        </p:spPr>
        <p:txBody>
          <a:bodyPr>
            <a:normAutofit/>
          </a:bodyPr>
          <a:lstStyle/>
          <a:p>
            <a:r>
              <a:rPr lang="en-US" sz="2000" dirty="0" err="1">
                <a:latin typeface="Times New Roman" panose="02020603050405020304" pitchFamily="18" charset="0"/>
                <a:cs typeface="Times New Roman" panose="02020603050405020304" pitchFamily="18" charset="0"/>
              </a:rPr>
              <a:t>ModelSim</a:t>
            </a:r>
            <a:r>
              <a:rPr lang="en-US" sz="2000" dirty="0">
                <a:latin typeface="Times New Roman" panose="02020603050405020304" pitchFamily="18" charset="0"/>
                <a:cs typeface="Times New Roman" panose="02020603050405020304" pitchFamily="18" charset="0"/>
              </a:rPr>
              <a:t>: To simulate and verify the functional correctness of the Verilog code.</a:t>
            </a:r>
          </a:p>
          <a:p>
            <a:r>
              <a:rPr lang="en-US" sz="2000" dirty="0">
                <a:latin typeface="Times New Roman" panose="02020603050405020304" pitchFamily="18" charset="0"/>
                <a:cs typeface="Times New Roman" panose="02020603050405020304" pitchFamily="18" charset="0"/>
              </a:rPr>
              <a:t> Quartus Prime: For code compilation, RTL design visualization, and FPGA-specific placement and routing. </a:t>
            </a:r>
          </a:p>
          <a:p>
            <a:r>
              <a:rPr lang="en-US" sz="2000" dirty="0">
                <a:latin typeface="Times New Roman" panose="02020603050405020304" pitchFamily="18" charset="0"/>
                <a:cs typeface="Times New Roman" panose="02020603050405020304" pitchFamily="18" charset="0"/>
              </a:rPr>
              <a:t>Synopsys Design Compiler: For complete area, power, and timing analysis to optimize the architecture. </a:t>
            </a:r>
          </a:p>
          <a:p>
            <a:r>
              <a:rPr lang="en-US" sz="2000" dirty="0">
                <a:latin typeface="Times New Roman" panose="02020603050405020304" pitchFamily="18" charset="0"/>
                <a:cs typeface="Times New Roman" panose="02020603050405020304" pitchFamily="18" charset="0"/>
              </a:rPr>
              <a:t>FPGA Device: Intel Cyclone IV E FPGA (EP4CE115F29C7) was selected for synthesis and hardware-level validation</a:t>
            </a:r>
          </a:p>
        </p:txBody>
      </p:sp>
      <p:pic>
        <p:nvPicPr>
          <p:cNvPr id="7" name="Picture 6" descr="A blue and orange logo&#10;&#10;Description automatically generated">
            <a:extLst>
              <a:ext uri="{FF2B5EF4-FFF2-40B4-BE49-F238E27FC236}">
                <a16:creationId xmlns:a16="http://schemas.microsoft.com/office/drawing/2014/main" id="{4070EBDA-31F1-DE68-ECBB-64F994AE9C0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 b="2"/>
          <a:stretch/>
        </p:blipFill>
        <p:spPr>
          <a:xfrm>
            <a:off x="6635845" y="743949"/>
            <a:ext cx="2602663" cy="2602663"/>
          </a:xfrm>
          <a:prstGeom prst="rect">
            <a:avLst/>
          </a:prstGeom>
        </p:spPr>
      </p:pic>
      <p:pic>
        <p:nvPicPr>
          <p:cNvPr id="13" name="Picture 12" descr="A black square with dots&#10;&#10;Description automatically generated">
            <a:extLst>
              <a:ext uri="{FF2B5EF4-FFF2-40B4-BE49-F238E27FC236}">
                <a16:creationId xmlns:a16="http://schemas.microsoft.com/office/drawing/2014/main" id="{A1B8B5A9-6FE0-7FB8-FB3A-262D6D95612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6431" r="8568" b="-2"/>
          <a:stretch/>
        </p:blipFill>
        <p:spPr>
          <a:xfrm>
            <a:off x="9387431" y="743933"/>
            <a:ext cx="2602663" cy="2602678"/>
          </a:xfrm>
          <a:prstGeom prst="rect">
            <a:avLst/>
          </a:prstGeom>
        </p:spPr>
      </p:pic>
      <p:pic>
        <p:nvPicPr>
          <p:cNvPr id="5" name="Picture 4" descr="A blue card with white text&#10;&#10;Description automatically generated">
            <a:extLst>
              <a:ext uri="{FF2B5EF4-FFF2-40B4-BE49-F238E27FC236}">
                <a16:creationId xmlns:a16="http://schemas.microsoft.com/office/drawing/2014/main" id="{AE25F371-A434-2920-F04B-B43F9B9BCDE5}"/>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1640" r="7" b="19615"/>
          <a:stretch/>
        </p:blipFill>
        <p:spPr>
          <a:xfrm>
            <a:off x="6635845" y="3518351"/>
            <a:ext cx="2602663" cy="2602681"/>
          </a:xfrm>
          <a:prstGeom prst="rect">
            <a:avLst/>
          </a:prstGeom>
        </p:spPr>
      </p:pic>
      <p:pic>
        <p:nvPicPr>
          <p:cNvPr id="15" name="Picture 14" descr="A purple rectangular sign with white text&#10;&#10;Description automatically generated">
            <a:extLst>
              <a:ext uri="{FF2B5EF4-FFF2-40B4-BE49-F238E27FC236}">
                <a16:creationId xmlns:a16="http://schemas.microsoft.com/office/drawing/2014/main" id="{C5717F6D-5974-E6B5-3A19-D3195852704C}"/>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r="4" b="4"/>
          <a:stretch/>
        </p:blipFill>
        <p:spPr>
          <a:xfrm>
            <a:off x="9387431" y="3509068"/>
            <a:ext cx="2602663" cy="2602663"/>
          </a:xfrm>
          <a:prstGeom prst="rect">
            <a:avLst/>
          </a:prstGeom>
        </p:spPr>
      </p:pic>
    </p:spTree>
    <p:extLst>
      <p:ext uri="{BB962C8B-B14F-4D97-AF65-F5344CB8AC3E}">
        <p14:creationId xmlns:p14="http://schemas.microsoft.com/office/powerpoint/2010/main" val="1426402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AA83-69B2-FEDA-6F23-09479C39EC8B}"/>
              </a:ext>
            </a:extLst>
          </p:cNvPr>
          <p:cNvSpPr>
            <a:spLocks noGrp="1"/>
          </p:cNvSpPr>
          <p:nvPr>
            <p:ph type="title"/>
          </p:nvPr>
        </p:nvSpPr>
        <p:spPr/>
        <p:txBody>
          <a:bodyPr/>
          <a:lstStyle/>
          <a:p>
            <a:r>
              <a:rPr lang="en-US" dirty="0"/>
              <a:t>PROCEDURE</a:t>
            </a:r>
          </a:p>
        </p:txBody>
      </p:sp>
      <p:sp>
        <p:nvSpPr>
          <p:cNvPr id="4" name="Rectangle: Rounded Corners 3">
            <a:extLst>
              <a:ext uri="{FF2B5EF4-FFF2-40B4-BE49-F238E27FC236}">
                <a16:creationId xmlns:a16="http://schemas.microsoft.com/office/drawing/2014/main" id="{107C220D-074F-7288-22F0-9CD31BB5394C}"/>
              </a:ext>
            </a:extLst>
          </p:cNvPr>
          <p:cNvSpPr/>
          <p:nvPr/>
        </p:nvSpPr>
        <p:spPr>
          <a:xfrm>
            <a:off x="1654627" y="2309358"/>
            <a:ext cx="2481943" cy="65314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indent="0">
              <a:buNone/>
            </a:pPr>
            <a:r>
              <a:rPr lang="en-US" dirty="0"/>
              <a:t>Design Development</a:t>
            </a:r>
          </a:p>
        </p:txBody>
      </p:sp>
      <p:sp>
        <p:nvSpPr>
          <p:cNvPr id="5" name="Rectangle: Rounded Corners 4">
            <a:extLst>
              <a:ext uri="{FF2B5EF4-FFF2-40B4-BE49-F238E27FC236}">
                <a16:creationId xmlns:a16="http://schemas.microsoft.com/office/drawing/2014/main" id="{E6251B93-7D06-F318-2D89-F783E33BDD73}"/>
              </a:ext>
            </a:extLst>
          </p:cNvPr>
          <p:cNvSpPr/>
          <p:nvPr/>
        </p:nvSpPr>
        <p:spPr>
          <a:xfrm>
            <a:off x="4855029" y="2309357"/>
            <a:ext cx="2481943" cy="65314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indent="0">
              <a:buNone/>
            </a:pPr>
            <a:r>
              <a:rPr lang="en-US" dirty="0"/>
              <a:t>Functional Verification</a:t>
            </a:r>
          </a:p>
        </p:txBody>
      </p:sp>
      <p:sp>
        <p:nvSpPr>
          <p:cNvPr id="6" name="Rectangle: Rounded Corners 5">
            <a:extLst>
              <a:ext uri="{FF2B5EF4-FFF2-40B4-BE49-F238E27FC236}">
                <a16:creationId xmlns:a16="http://schemas.microsoft.com/office/drawing/2014/main" id="{97A737AC-7AB5-EE29-B713-93EFD0B3F381}"/>
              </a:ext>
            </a:extLst>
          </p:cNvPr>
          <p:cNvSpPr/>
          <p:nvPr/>
        </p:nvSpPr>
        <p:spPr>
          <a:xfrm>
            <a:off x="8055431" y="2309357"/>
            <a:ext cx="2481943" cy="65314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indent="0">
              <a:buNone/>
            </a:pPr>
            <a:r>
              <a:rPr lang="en-US" dirty="0"/>
              <a:t>Synthesis and Analysis</a:t>
            </a:r>
          </a:p>
        </p:txBody>
      </p:sp>
      <p:sp>
        <p:nvSpPr>
          <p:cNvPr id="7" name="Rectangle: Rounded Corners 6">
            <a:extLst>
              <a:ext uri="{FF2B5EF4-FFF2-40B4-BE49-F238E27FC236}">
                <a16:creationId xmlns:a16="http://schemas.microsoft.com/office/drawing/2014/main" id="{7D6C90B9-FF52-6B6C-D2BD-8A3B38CBB369}"/>
              </a:ext>
            </a:extLst>
          </p:cNvPr>
          <p:cNvSpPr/>
          <p:nvPr/>
        </p:nvSpPr>
        <p:spPr>
          <a:xfrm>
            <a:off x="8055431" y="3744685"/>
            <a:ext cx="2481943" cy="65314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indent="0">
              <a:buNone/>
            </a:pPr>
            <a:r>
              <a:rPr lang="en-US" dirty="0"/>
              <a:t>Performance Evaluation</a:t>
            </a:r>
          </a:p>
        </p:txBody>
      </p:sp>
      <p:sp>
        <p:nvSpPr>
          <p:cNvPr id="8" name="Rectangle: Rounded Corners 7">
            <a:extLst>
              <a:ext uri="{FF2B5EF4-FFF2-40B4-BE49-F238E27FC236}">
                <a16:creationId xmlns:a16="http://schemas.microsoft.com/office/drawing/2014/main" id="{17433455-B060-F3EA-2E34-FDF68F262A38}"/>
              </a:ext>
            </a:extLst>
          </p:cNvPr>
          <p:cNvSpPr/>
          <p:nvPr/>
        </p:nvSpPr>
        <p:spPr>
          <a:xfrm>
            <a:off x="4855028" y="3744685"/>
            <a:ext cx="2481943" cy="65314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indent="0">
              <a:buNone/>
            </a:pPr>
            <a:r>
              <a:rPr lang="en-US" dirty="0"/>
              <a:t>Hardware Validation</a:t>
            </a:r>
          </a:p>
        </p:txBody>
      </p:sp>
      <p:sp>
        <p:nvSpPr>
          <p:cNvPr id="9" name="Rectangle: Rounded Corners 8">
            <a:extLst>
              <a:ext uri="{FF2B5EF4-FFF2-40B4-BE49-F238E27FC236}">
                <a16:creationId xmlns:a16="http://schemas.microsoft.com/office/drawing/2014/main" id="{08348760-AD19-01F6-394B-85F36EC6ABF3}"/>
              </a:ext>
            </a:extLst>
          </p:cNvPr>
          <p:cNvSpPr/>
          <p:nvPr/>
        </p:nvSpPr>
        <p:spPr>
          <a:xfrm>
            <a:off x="1654627" y="3744685"/>
            <a:ext cx="2481943" cy="65314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indent="0">
              <a:buNone/>
            </a:pPr>
            <a:r>
              <a:rPr lang="en-US" dirty="0"/>
              <a:t>Result Compilation</a:t>
            </a:r>
          </a:p>
        </p:txBody>
      </p:sp>
      <p:cxnSp>
        <p:nvCxnSpPr>
          <p:cNvPr id="11" name="Straight Arrow Connector 10">
            <a:extLst>
              <a:ext uri="{FF2B5EF4-FFF2-40B4-BE49-F238E27FC236}">
                <a16:creationId xmlns:a16="http://schemas.microsoft.com/office/drawing/2014/main" id="{4A111760-36D6-C343-DE8B-52091466E8AD}"/>
              </a:ext>
            </a:extLst>
          </p:cNvPr>
          <p:cNvCxnSpPr>
            <a:stCxn id="4" idx="3"/>
            <a:endCxn id="5" idx="1"/>
          </p:cNvCxnSpPr>
          <p:nvPr/>
        </p:nvCxnSpPr>
        <p:spPr>
          <a:xfrm flipV="1">
            <a:off x="4136570" y="2635929"/>
            <a:ext cx="71845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0FBFE98-4061-CCEE-A1F3-FAEA134D8AEB}"/>
              </a:ext>
            </a:extLst>
          </p:cNvPr>
          <p:cNvCxnSpPr>
            <a:stCxn id="5" idx="3"/>
            <a:endCxn id="6" idx="1"/>
          </p:cNvCxnSpPr>
          <p:nvPr/>
        </p:nvCxnSpPr>
        <p:spPr>
          <a:xfrm>
            <a:off x="7336972" y="2635929"/>
            <a:ext cx="7184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34A33734-7CC1-03F6-CF17-B170B863385A}"/>
              </a:ext>
            </a:extLst>
          </p:cNvPr>
          <p:cNvCxnSpPr>
            <a:stCxn id="6" idx="2"/>
            <a:endCxn id="7" idx="0"/>
          </p:cNvCxnSpPr>
          <p:nvPr/>
        </p:nvCxnSpPr>
        <p:spPr>
          <a:xfrm>
            <a:off x="9296403" y="2962500"/>
            <a:ext cx="0" cy="7821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59847FEE-2C61-2701-20C2-118EDAD4FED3}"/>
              </a:ext>
            </a:extLst>
          </p:cNvPr>
          <p:cNvCxnSpPr>
            <a:stCxn id="7" idx="1"/>
            <a:endCxn id="8" idx="3"/>
          </p:cNvCxnSpPr>
          <p:nvPr/>
        </p:nvCxnSpPr>
        <p:spPr>
          <a:xfrm flipH="1">
            <a:off x="7336971" y="4071257"/>
            <a:ext cx="718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764F2384-6337-EFCC-8D98-4FDD5731A8F3}"/>
              </a:ext>
            </a:extLst>
          </p:cNvPr>
          <p:cNvCxnSpPr>
            <a:stCxn id="8" idx="1"/>
            <a:endCxn id="9" idx="3"/>
          </p:cNvCxnSpPr>
          <p:nvPr/>
        </p:nvCxnSpPr>
        <p:spPr>
          <a:xfrm flipH="1">
            <a:off x="4136570" y="4071257"/>
            <a:ext cx="7184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85053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05B70-0146-5C98-6569-08C992FD06EC}"/>
              </a:ext>
            </a:extLst>
          </p:cNvPr>
          <p:cNvSpPr>
            <a:spLocks noGrp="1"/>
          </p:cNvSpPr>
          <p:nvPr>
            <p:ph type="title"/>
          </p:nvPr>
        </p:nvSpPr>
        <p:spPr/>
        <p:txBody>
          <a:bodyPr/>
          <a:lstStyle/>
          <a:p>
            <a:r>
              <a:rPr lang="en-US" dirty="0"/>
              <a:t>RESULT ANALYSIS</a:t>
            </a:r>
          </a:p>
        </p:txBody>
      </p:sp>
      <p:pic>
        <p:nvPicPr>
          <p:cNvPr id="4" name="Content Placeholder 3" descr="A screen shot of a computer&#10;&#10;Description automatically generated">
            <a:extLst>
              <a:ext uri="{FF2B5EF4-FFF2-40B4-BE49-F238E27FC236}">
                <a16:creationId xmlns:a16="http://schemas.microsoft.com/office/drawing/2014/main" id="{9D9B9077-A85F-BA99-0C71-5C70FAAAD9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838200" y="1969323"/>
            <a:ext cx="10515600" cy="309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535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0C0B-8A89-0510-CA32-923E51D4B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A1C6C-A3BB-B64D-FF76-11486E02916E}"/>
              </a:ext>
            </a:extLst>
          </p:cNvPr>
          <p:cNvSpPr>
            <a:spLocks noGrp="1"/>
          </p:cNvSpPr>
          <p:nvPr>
            <p:ph type="title"/>
          </p:nvPr>
        </p:nvSpPr>
        <p:spPr/>
        <p:txBody>
          <a:bodyPr/>
          <a:lstStyle/>
          <a:p>
            <a:r>
              <a:rPr lang="en-US" dirty="0"/>
              <a:t>RESULT ANALYSIS</a:t>
            </a:r>
          </a:p>
        </p:txBody>
      </p:sp>
      <p:pic>
        <p:nvPicPr>
          <p:cNvPr id="6" name="Content Placeholder 5" descr="A diagram of a computer scheme&#10;&#10;Description automatically generated">
            <a:extLst>
              <a:ext uri="{FF2B5EF4-FFF2-40B4-BE49-F238E27FC236}">
                <a16:creationId xmlns:a16="http://schemas.microsoft.com/office/drawing/2014/main" id="{A2BBF9B1-A2C3-EAA2-8635-5126BC0364A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564" b="5448"/>
          <a:stretch/>
        </p:blipFill>
        <p:spPr>
          <a:xfrm>
            <a:off x="1019471" y="1428750"/>
            <a:ext cx="10479782" cy="5305425"/>
          </a:xfrm>
        </p:spPr>
      </p:pic>
    </p:spTree>
    <p:extLst>
      <p:ext uri="{BB962C8B-B14F-4D97-AF65-F5344CB8AC3E}">
        <p14:creationId xmlns:p14="http://schemas.microsoft.com/office/powerpoint/2010/main" val="2808335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3647-FAA0-5C7B-A92F-6B889FF40649}"/>
              </a:ext>
            </a:extLst>
          </p:cNvPr>
          <p:cNvSpPr>
            <a:spLocks noGrp="1"/>
          </p:cNvSpPr>
          <p:nvPr>
            <p:ph type="title"/>
          </p:nvPr>
        </p:nvSpPr>
        <p:spPr/>
        <p:txBody>
          <a:bodyPr/>
          <a:lstStyle/>
          <a:p>
            <a:r>
              <a:rPr lang="en-US" dirty="0"/>
              <a:t>POWER ANALYSIS</a:t>
            </a:r>
          </a:p>
        </p:txBody>
      </p:sp>
      <p:pic>
        <p:nvPicPr>
          <p:cNvPr id="9" name="Picture 8" descr="A graph of power consumption comparison&#10;&#10;Description automatically generated">
            <a:extLst>
              <a:ext uri="{FF2B5EF4-FFF2-40B4-BE49-F238E27FC236}">
                <a16:creationId xmlns:a16="http://schemas.microsoft.com/office/drawing/2014/main" id="{2828EDF1-C974-0215-8907-B68BB8068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5" y="1918095"/>
            <a:ext cx="5429250" cy="3600450"/>
          </a:xfrm>
          <a:prstGeom prst="rect">
            <a:avLst/>
          </a:prstGeom>
        </p:spPr>
      </p:pic>
      <p:pic>
        <p:nvPicPr>
          <p:cNvPr id="6" name="Content Placeholder 5" descr="A table with numbers and letters&#10;&#10;Description automatically generated">
            <a:extLst>
              <a:ext uri="{FF2B5EF4-FFF2-40B4-BE49-F238E27FC236}">
                <a16:creationId xmlns:a16="http://schemas.microsoft.com/office/drawing/2014/main" id="{54A4047F-B0F3-5D4C-8856-A3FE4FAAED8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71077" y="3097161"/>
            <a:ext cx="5429251" cy="1242317"/>
          </a:xfrm>
        </p:spPr>
      </p:pic>
    </p:spTree>
    <p:extLst>
      <p:ext uri="{BB962C8B-B14F-4D97-AF65-F5344CB8AC3E}">
        <p14:creationId xmlns:p14="http://schemas.microsoft.com/office/powerpoint/2010/main" val="3697017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600B-61E7-11C5-1883-A10DCE963EA7}"/>
              </a:ext>
            </a:extLst>
          </p:cNvPr>
          <p:cNvSpPr>
            <a:spLocks noGrp="1"/>
          </p:cNvSpPr>
          <p:nvPr>
            <p:ph type="title"/>
          </p:nvPr>
        </p:nvSpPr>
        <p:spPr/>
        <p:txBody>
          <a:bodyPr/>
          <a:lstStyle/>
          <a:p>
            <a:r>
              <a:rPr lang="en-US" dirty="0"/>
              <a:t>AREA ANALYSIS</a:t>
            </a:r>
          </a:p>
        </p:txBody>
      </p:sp>
      <p:pic>
        <p:nvPicPr>
          <p:cNvPr id="5" name="Content Placeholder 4" descr="A graph of multiplier area&#10;&#10;Description automatically generated">
            <a:extLst>
              <a:ext uri="{FF2B5EF4-FFF2-40B4-BE49-F238E27FC236}">
                <a16:creationId xmlns:a16="http://schemas.microsoft.com/office/drawing/2014/main" id="{55F5DE89-2A88-B1EC-8594-4C4FAB0DA7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0550" y="2191544"/>
            <a:ext cx="5353050" cy="3257550"/>
          </a:xfrm>
        </p:spPr>
      </p:pic>
      <p:pic>
        <p:nvPicPr>
          <p:cNvPr id="4" name="Picture 3" descr="A table with numbers and text&#10;&#10;Description automatically generated">
            <a:extLst>
              <a:ext uri="{FF2B5EF4-FFF2-40B4-BE49-F238E27FC236}">
                <a16:creationId xmlns:a16="http://schemas.microsoft.com/office/drawing/2014/main" id="{13A21D53-5824-3C03-D84D-6D0194794F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102944"/>
            <a:ext cx="5738999" cy="1434750"/>
          </a:xfrm>
          <a:prstGeom prst="rect">
            <a:avLst/>
          </a:prstGeom>
        </p:spPr>
      </p:pic>
    </p:spTree>
    <p:extLst>
      <p:ext uri="{BB962C8B-B14F-4D97-AF65-F5344CB8AC3E}">
        <p14:creationId xmlns:p14="http://schemas.microsoft.com/office/powerpoint/2010/main" val="163577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12AE-7F90-473E-B8AA-A66A49806714}"/>
              </a:ext>
            </a:extLst>
          </p:cNvPr>
          <p:cNvSpPr>
            <a:spLocks noGrp="1"/>
          </p:cNvSpPr>
          <p:nvPr>
            <p:ph type="title"/>
          </p:nvPr>
        </p:nvSpPr>
        <p:spPr/>
        <p:txBody>
          <a:bodyPr/>
          <a:lstStyle/>
          <a:p>
            <a:r>
              <a:rPr lang="en-US" dirty="0"/>
              <a:t>TIMING ANALYSIS</a:t>
            </a:r>
          </a:p>
        </p:txBody>
      </p:sp>
      <p:pic>
        <p:nvPicPr>
          <p:cNvPr id="7" name="Content Placeholder 6" descr="A table with numbers and text&#10;&#10;Description automatically generated">
            <a:extLst>
              <a:ext uri="{FF2B5EF4-FFF2-40B4-BE49-F238E27FC236}">
                <a16:creationId xmlns:a16="http://schemas.microsoft.com/office/drawing/2014/main" id="{D6887135-14B3-5AAC-DE9E-16639EB019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8035" y="2358970"/>
            <a:ext cx="9315929" cy="2140060"/>
          </a:xfrm>
        </p:spPr>
      </p:pic>
    </p:spTree>
    <p:extLst>
      <p:ext uri="{BB962C8B-B14F-4D97-AF65-F5344CB8AC3E}">
        <p14:creationId xmlns:p14="http://schemas.microsoft.com/office/powerpoint/2010/main" val="535254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235C-BA23-1E04-FAB3-0CA63A0F9363}"/>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1E850B1C-E2E4-3B19-27B7-77ADFA0A2257}"/>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We have successfully implemented 32-bit Radix-4 Booth Multiplier using the Residue Number System.</a:t>
            </a:r>
          </a:p>
          <a:p>
            <a:pPr algn="just"/>
            <a:r>
              <a:rPr lang="en-US" dirty="0">
                <a:latin typeface="Times New Roman" panose="02020603050405020304" pitchFamily="18" charset="0"/>
                <a:cs typeface="Times New Roman" panose="02020603050405020304" pitchFamily="18" charset="0"/>
              </a:rPr>
              <a:t>The design has been functionally  verified.</a:t>
            </a:r>
          </a:p>
          <a:p>
            <a:pPr algn="just"/>
            <a:r>
              <a:rPr lang="en-US" dirty="0">
                <a:latin typeface="Times New Roman" panose="02020603050405020304" pitchFamily="18" charset="0"/>
                <a:cs typeface="Times New Roman" panose="02020603050405020304" pitchFamily="18" charset="0"/>
              </a:rPr>
              <a:t>The RNS multiplier has shown significant improvement compared to Conventional multiplier in terms of Area, Power and Time.</a:t>
            </a:r>
          </a:p>
          <a:p>
            <a:pPr algn="just"/>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RNS Booth Multiplier proves to be a reliable and superior solution for modern computational needs, such as signal processing, cryptography, and embedded systems.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673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D12E-9D1A-5713-DFB6-3AE9501D88C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20D703C-6F4F-F2A4-A9A1-A7EAB0DF9047}"/>
              </a:ext>
            </a:extLst>
          </p:cNvPr>
          <p:cNvSpPr>
            <a:spLocks noGrp="1"/>
          </p:cNvSpPr>
          <p:nvPr>
            <p:ph idx="1"/>
          </p:nvPr>
        </p:nvSpPr>
        <p:spPr/>
        <p:txBody>
          <a:bodyP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[1]. Y. -J. Chang, Y. -C. Cheng, S. -C. Liao and C. -H. Hsiao, "A Low Power Radix-4 Booth Multiplier With Pre-Encoded Mechanism," in IEEE Access, vol. 8, pp. 114842-114853, 2020,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10.1109/ACCESS.2020.3003684.</a:t>
            </a:r>
          </a:p>
          <a:p>
            <a:pPr marL="0" indent="0">
              <a:buNone/>
            </a:pPr>
            <a:r>
              <a:rPr lang="en-US" dirty="0">
                <a:latin typeface="Times New Roman" panose="02020603050405020304" pitchFamily="18" charset="0"/>
                <a:cs typeface="Times New Roman" panose="02020603050405020304" pitchFamily="18" charset="0"/>
              </a:rPr>
              <a:t>[2]. N. R. Varghese and S. </a:t>
            </a:r>
            <a:r>
              <a:rPr lang="en-US" dirty="0" err="1">
                <a:latin typeface="Times New Roman" panose="02020603050405020304" pitchFamily="18" charset="0"/>
                <a:cs typeface="Times New Roman" panose="02020603050405020304" pitchFamily="18" charset="0"/>
              </a:rPr>
              <a:t>Rajula</a:t>
            </a:r>
            <a:r>
              <a:rPr lang="en-US" dirty="0">
                <a:latin typeface="Times New Roman" panose="02020603050405020304" pitchFamily="18" charset="0"/>
                <a:cs typeface="Times New Roman" panose="02020603050405020304" pitchFamily="18" charset="0"/>
              </a:rPr>
              <a:t>, "High Speed Low Power Radix 4 Approximate Booth Multiplier," 2019 3rd International Conference on Electronics, Materials Engineering \&amp; Nano-Technology (</a:t>
            </a:r>
            <a:r>
              <a:rPr lang="en-US" dirty="0" err="1">
                <a:latin typeface="Times New Roman" panose="02020603050405020304" pitchFamily="18" charset="0"/>
                <a:cs typeface="Times New Roman" panose="02020603050405020304" pitchFamily="18" charset="0"/>
              </a:rPr>
              <a:t>IEMENTech</a:t>
            </a:r>
            <a:r>
              <a:rPr lang="en-US" dirty="0">
                <a:latin typeface="Times New Roman" panose="02020603050405020304" pitchFamily="18" charset="0"/>
                <a:cs typeface="Times New Roman" panose="02020603050405020304" pitchFamily="18" charset="0"/>
              </a:rPr>
              <a:t>), Kolkata, India, 2019, pp. 1-4,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10.1109/IEMENTech48150.2019.8981022.</a:t>
            </a:r>
          </a:p>
          <a:p>
            <a:pPr marL="0" indent="0">
              <a:buNone/>
            </a:pPr>
            <a:r>
              <a:rPr lang="en-US" dirty="0">
                <a:latin typeface="Times New Roman" panose="02020603050405020304" pitchFamily="18" charset="0"/>
                <a:cs typeface="Times New Roman" panose="02020603050405020304" pitchFamily="18" charset="0"/>
              </a:rPr>
              <a:t>[3]. Duncan J.M. Moss, David Boland, Philip H.W. Leong, "A Two-Speed, Radix-4, Serial-Parallel Multiplier", School of Electrical and Information Engineering, The University of Sydney, Australia 2006.</a:t>
            </a:r>
          </a:p>
          <a:p>
            <a:pPr marL="0" indent="0">
              <a:buNone/>
            </a:pPr>
            <a:r>
              <a:rPr lang="en-US" dirty="0">
                <a:latin typeface="Times New Roman" panose="02020603050405020304" pitchFamily="18" charset="0"/>
                <a:cs typeface="Times New Roman" panose="02020603050405020304" pitchFamily="18" charset="0"/>
              </a:rPr>
              <a:t>[4]. D. Younes and P. Steffan, "A comparative study on different moduli sets in residue number system," 2012 International Conference on Computer Systems and Industrial Informatics, Sharjah, United Arab Emirates, 2012, pp. 1-6,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10.1109/ICCSII.2012.6454344.</a:t>
            </a:r>
          </a:p>
          <a:p>
            <a:pPr marL="0" indent="0">
              <a:buNone/>
            </a:pPr>
            <a:r>
              <a:rPr lang="en-US" dirty="0">
                <a:latin typeface="Times New Roman" panose="02020603050405020304" pitchFamily="18" charset="0"/>
                <a:cs typeface="Times New Roman" panose="02020603050405020304" pitchFamily="18" charset="0"/>
              </a:rPr>
              <a:t>[5]. D. </a:t>
            </a:r>
            <a:r>
              <a:rPr lang="en-US" dirty="0" err="1">
                <a:latin typeface="Times New Roman" panose="02020603050405020304" pitchFamily="18" charset="0"/>
                <a:cs typeface="Times New Roman" panose="02020603050405020304" pitchFamily="18" charset="0"/>
              </a:rPr>
              <a:t>Kalaiyarasi</a:t>
            </a:r>
            <a:r>
              <a:rPr lang="en-US" dirty="0">
                <a:latin typeface="Times New Roman" panose="02020603050405020304" pitchFamily="18" charset="0"/>
                <a:cs typeface="Times New Roman" panose="02020603050405020304" pitchFamily="18" charset="0"/>
              </a:rPr>
              <a:t> and M. Saraswathi, "Design of an Efficient High-Speed Radix-4 Booth Multiplier for both Signed and Unsigned Numbers," 2018 Fourth International Conference on Advances in Electrical, Electronics, Information, Communication and Bio-Informatics (AEEICB), Chennai, India, 2018, pp. 1-6,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10.1109/AEEICB.2018.8480959.</a:t>
            </a:r>
          </a:p>
          <a:p>
            <a:pPr marL="0" indent="0">
              <a:buNone/>
            </a:pPr>
            <a:r>
              <a:rPr lang="en-US" dirty="0">
                <a:latin typeface="Times New Roman" panose="02020603050405020304" pitchFamily="18" charset="0"/>
                <a:cs typeface="Times New Roman" panose="02020603050405020304" pitchFamily="18" charset="0"/>
              </a:rPr>
              <a:t>[6]. N. R. Varghese and S. </a:t>
            </a:r>
            <a:r>
              <a:rPr lang="en-US" dirty="0" err="1">
                <a:latin typeface="Times New Roman" panose="02020603050405020304" pitchFamily="18" charset="0"/>
                <a:cs typeface="Times New Roman" panose="02020603050405020304" pitchFamily="18" charset="0"/>
              </a:rPr>
              <a:t>Rajula</a:t>
            </a:r>
            <a:r>
              <a:rPr lang="en-US" dirty="0">
                <a:latin typeface="Times New Roman" panose="02020603050405020304" pitchFamily="18" charset="0"/>
                <a:cs typeface="Times New Roman" panose="02020603050405020304" pitchFamily="18" charset="0"/>
              </a:rPr>
              <a:t>, "High Speed Low Power Radix 4 Approximate Booth Multiplier," 2019 3rd International Conference on Electronics, Materials Engineering \&amp; Nano-Technology (</a:t>
            </a:r>
            <a:r>
              <a:rPr lang="en-US" dirty="0" err="1">
                <a:latin typeface="Times New Roman" panose="02020603050405020304" pitchFamily="18" charset="0"/>
                <a:cs typeface="Times New Roman" panose="02020603050405020304" pitchFamily="18" charset="0"/>
              </a:rPr>
              <a:t>IEMENTech</a:t>
            </a:r>
            <a:r>
              <a:rPr lang="en-US" dirty="0">
                <a:latin typeface="Times New Roman" panose="02020603050405020304" pitchFamily="18" charset="0"/>
                <a:cs typeface="Times New Roman" panose="02020603050405020304" pitchFamily="18" charset="0"/>
              </a:rPr>
              <a:t>), Kolkata, India, 2019, pp. 1-4, doi:10.1109/IEMENTech48150.2019.8981022</a:t>
            </a:r>
          </a:p>
        </p:txBody>
      </p:sp>
    </p:spTree>
    <p:extLst>
      <p:ext uri="{BB962C8B-B14F-4D97-AF65-F5344CB8AC3E}">
        <p14:creationId xmlns:p14="http://schemas.microsoft.com/office/powerpoint/2010/main" val="2854424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D506-1CF7-E8CA-B8B2-75EF31C8B48E}"/>
              </a:ext>
            </a:extLst>
          </p:cNvPr>
          <p:cNvSpPr>
            <a:spLocks noGrp="1"/>
          </p:cNvSpPr>
          <p:nvPr>
            <p:ph type="title"/>
          </p:nvPr>
        </p:nvSpPr>
        <p:spPr>
          <a:xfrm>
            <a:off x="838200" y="2766218"/>
            <a:ext cx="10515600" cy="1325563"/>
          </a:xfrm>
        </p:spPr>
        <p:txBody>
          <a:bodyPr>
            <a:normAutofit/>
          </a:bodyPr>
          <a:lstStyle/>
          <a:p>
            <a:pPr algn="ctr"/>
            <a:r>
              <a:rPr lang="en-US" sz="6600" dirty="0"/>
              <a:t>THANK YOU</a:t>
            </a:r>
          </a:p>
        </p:txBody>
      </p:sp>
    </p:spTree>
    <p:extLst>
      <p:ext uri="{BB962C8B-B14F-4D97-AF65-F5344CB8AC3E}">
        <p14:creationId xmlns:p14="http://schemas.microsoft.com/office/powerpoint/2010/main" val="1561292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3426</TotalTime>
  <Words>1247</Words>
  <Application>Microsoft Office PowerPoint</Application>
  <PresentationFormat>Widescreen</PresentationFormat>
  <Paragraphs>88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32-BIT RADIX-4 BOOTH MULTIPLIER USING RESIDUE NUMBER SYSTEM</vt:lpstr>
      <vt:lpstr>ABSTRACT</vt:lpstr>
      <vt:lpstr>PowerPoint Presentation</vt:lpstr>
      <vt:lpstr>INTRODUCTION</vt:lpstr>
      <vt:lpstr>MOTIVATION</vt:lpstr>
      <vt:lpstr>LITERATURE REVIEW</vt:lpstr>
      <vt:lpstr>THEORETICAL BACKGROUND</vt:lpstr>
      <vt:lpstr>RADIX-4 BOOTH MULTIPLIER</vt:lpstr>
      <vt:lpstr>RESIDUE NUMBER SYSTEM(RNS)</vt:lpstr>
      <vt:lpstr>PROPOSED MODEL</vt:lpstr>
      <vt:lpstr>SOFTWARE USED</vt:lpstr>
      <vt:lpstr>PROCEDURE</vt:lpstr>
      <vt:lpstr>RESULT ANALYSIS</vt:lpstr>
      <vt:lpstr>RESULT ANALYSIS</vt:lpstr>
      <vt:lpstr>POWER ANALYSIS</vt:lpstr>
      <vt:lpstr>AREA ANALYSIS</vt:lpstr>
      <vt:lpstr>TIMING ANALYSIS</vt:lpstr>
      <vt:lpstr>CONCLUSION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Munnangi Dinesh</dc:creator>
  <cp:lastModifiedBy>Dinesh Munnangi</cp:lastModifiedBy>
  <cp:revision>7</cp:revision>
  <dcterms:created xsi:type="dcterms:W3CDTF">2024-12-16T20:15:27Z</dcterms:created>
  <dcterms:modified xsi:type="dcterms:W3CDTF">2024-12-19T08:40:15Z</dcterms:modified>
</cp:coreProperties>
</file>